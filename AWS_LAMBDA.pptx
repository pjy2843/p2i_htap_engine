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333" r:id="rId3"/>
    <p:sldId id="392" r:id="rId4"/>
    <p:sldId id="312" r:id="rId5"/>
    <p:sldId id="393" r:id="rId6"/>
    <p:sldId id="394" r:id="rId7"/>
    <p:sldId id="396" r:id="rId8"/>
    <p:sldId id="397" r:id="rId9"/>
    <p:sldId id="354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E00000"/>
    <a:srgbClr val="00FF00"/>
    <a:srgbClr val="FF17ED"/>
    <a:srgbClr val="E84C3C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9" autoAdjust="0"/>
    <p:restoredTop sz="81496" autoAdjust="0"/>
  </p:normalViewPr>
  <p:slideViewPr>
    <p:cSldViewPr snapToGrid="0">
      <p:cViewPr varScale="1">
        <p:scale>
          <a:sx n="76" d="100"/>
          <a:sy n="76" d="100"/>
        </p:scale>
        <p:origin x="72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E3982-DE84-3D48-9ADE-2E8EFC224288}" type="datetimeFigureOut">
              <a:rPr kumimoji="1" lang="ko-Kore-KR" altLang="en-US" smtClean="0"/>
              <a:t>10/17/2024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4D6B-0F63-A04D-A057-F550483B1F8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9179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31251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Manifest file: </a:t>
            </a:r>
            <a:r>
              <a:rPr kumimoji="1" lang="ko-KR" altLang="en-US" dirty="0"/>
              <a:t>특정 시점의 스냅샷을 기록하고 있는 파일</a:t>
            </a:r>
            <a:endParaRPr kumimoji="1" lang="en-US" altLang="ko-KR" dirty="0"/>
          </a:p>
          <a:p>
            <a:r>
              <a:rPr kumimoji="1" lang="en-US" altLang="en-US" dirty="0"/>
              <a:t>Manifest list file</a:t>
            </a:r>
            <a:r>
              <a:rPr kumimoji="1" lang="ko-KR" altLang="en-US" dirty="0"/>
              <a:t>은 스냅샷 버전관리하기 위한 파일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31701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04715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Manifest file: </a:t>
            </a:r>
            <a:r>
              <a:rPr kumimoji="1" lang="ko-KR" altLang="en-US" dirty="0"/>
              <a:t>특정 시점의 스냅샷을 기록하고 있는 파일</a:t>
            </a:r>
            <a:endParaRPr kumimoji="1" lang="en-US" altLang="ko-KR" dirty="0"/>
          </a:p>
          <a:p>
            <a:r>
              <a:rPr kumimoji="1" lang="en-US" altLang="en-US" dirty="0"/>
              <a:t>Manifest list file</a:t>
            </a:r>
            <a:r>
              <a:rPr kumimoji="1" lang="ko-KR" altLang="en-US" dirty="0"/>
              <a:t>은 스냅샷 버전관리하기 위한 파일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0665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Manifest file: </a:t>
            </a:r>
            <a:r>
              <a:rPr kumimoji="1" lang="ko-KR" altLang="en-US" dirty="0"/>
              <a:t>특정 시점의 스냅샷을 기록하고 있는 파일</a:t>
            </a:r>
            <a:endParaRPr kumimoji="1" lang="en-US" altLang="ko-KR" dirty="0"/>
          </a:p>
          <a:p>
            <a:r>
              <a:rPr kumimoji="1" lang="en-US" altLang="en-US" dirty="0"/>
              <a:t>Manifest list file</a:t>
            </a:r>
            <a:r>
              <a:rPr kumimoji="1" lang="ko-KR" altLang="en-US" dirty="0"/>
              <a:t>은 스냅샷 버전관리하기 위한 파일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559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Manifest file: </a:t>
            </a:r>
            <a:r>
              <a:rPr kumimoji="1" lang="ko-KR" altLang="en-US" dirty="0"/>
              <a:t>특정 시점의 스냅샷을 기록하고 있는 파일</a:t>
            </a:r>
            <a:endParaRPr kumimoji="1" lang="en-US" altLang="ko-KR" dirty="0"/>
          </a:p>
          <a:p>
            <a:r>
              <a:rPr kumimoji="1" lang="en-US" altLang="en-US" dirty="0"/>
              <a:t>Manifest list file</a:t>
            </a:r>
            <a:r>
              <a:rPr kumimoji="1" lang="ko-KR" altLang="en-US" dirty="0"/>
              <a:t>은 스냅샷 버전관리하기 위한 파일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59945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en-US" dirty="0"/>
              <a:t>Manifest file: </a:t>
            </a:r>
            <a:r>
              <a:rPr kumimoji="1" lang="ko-KR" altLang="en-US" dirty="0"/>
              <a:t>특정 시점의 스냅샷을 기록하고 있는 파일</a:t>
            </a:r>
            <a:endParaRPr kumimoji="1" lang="en-US" altLang="ko-KR" dirty="0"/>
          </a:p>
          <a:p>
            <a:r>
              <a:rPr kumimoji="1" lang="en-US" altLang="en-US" dirty="0"/>
              <a:t>Manifest list file</a:t>
            </a:r>
            <a:r>
              <a:rPr kumimoji="1" lang="ko-KR" altLang="en-US" dirty="0"/>
              <a:t>은 스냅샷 버전관리하기 위한 파일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34D6B-0F63-A04D-A057-F550483B1F84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2277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6974F6-8641-1815-CC72-8160D5E75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04901"/>
            <a:ext cx="9144000" cy="935968"/>
          </a:xfrm>
          <a:prstGeom prst="rect">
            <a:avLst/>
          </a:prstGeom>
        </p:spPr>
        <p:txBody>
          <a:bodyPr anchor="ctr"/>
          <a:lstStyle>
            <a:lvl1pPr algn="ctr">
              <a:defRPr sz="30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E51939-218D-8551-DF64-24E1DDD513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575763" y="5512471"/>
            <a:ext cx="3395560" cy="386097"/>
          </a:xfrm>
        </p:spPr>
        <p:txBody>
          <a:bodyPr anchor="ctr"/>
          <a:lstStyle>
            <a:lvl1pPr marL="0" indent="0" algn="r">
              <a:buNone/>
              <a:defRPr sz="160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kumimoji="1" lang="en-US" altLang="ko-KR" dirty="0"/>
              <a:t>SNU VLDB Lab. </a:t>
            </a:r>
            <a:r>
              <a:rPr kumimoji="1" lang="ko-KR" altLang="en-US" dirty="0"/>
              <a:t>오재원</a:t>
            </a:r>
            <a:endParaRPr kumimoji="1" lang="en-US" altLang="ko-KR" dirty="0"/>
          </a:p>
        </p:txBody>
      </p:sp>
      <p:pic>
        <p:nvPicPr>
          <p:cNvPr id="13" name="Picture 2" descr="@FlashSQL">
            <a:extLst>
              <a:ext uri="{FF2B5EF4-FFF2-40B4-BE49-F238E27FC236}">
                <a16:creationId xmlns:a16="http://schemas.microsoft.com/office/drawing/2014/main" id="{853B891F-ECFA-23C9-D16F-F5FF0695CB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79" y="5410611"/>
            <a:ext cx="932369" cy="93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486CA60E-8985-D319-E7C6-4F37D64A16B9}"/>
              </a:ext>
            </a:extLst>
          </p:cNvPr>
          <p:cNvSpPr txBox="1">
            <a:spLocks/>
          </p:cNvSpPr>
          <p:nvPr userDrawn="1"/>
        </p:nvSpPr>
        <p:spPr>
          <a:xfrm>
            <a:off x="8575763" y="5126373"/>
            <a:ext cx="3395560" cy="386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FF0000"/>
              </a:buClr>
              <a:buSzPct val="8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0000"/>
              </a:buClr>
              <a:buSzPct val="80000"/>
              <a:buFont typeface="시스템 서체 일반체"/>
              <a:buNone/>
              <a:defRPr sz="20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0000"/>
              </a:buClr>
              <a:buSzPct val="70000"/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0000"/>
              </a:buClr>
              <a:buSzPct val="80000"/>
              <a:buFont typeface="시스템 서체 일반체"/>
              <a:buNone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FF0000"/>
              </a:buClr>
              <a:buSzPct val="80000"/>
              <a:buFont typeface="시스템 서체 일반체"/>
              <a:buNone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ko-Kore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96E31F9-BBA6-0E0B-ED97-DB680F6CF5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5763" y="5898568"/>
            <a:ext cx="3395559" cy="386097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/>
            </a:lvl1pPr>
          </a:lstStyle>
          <a:p>
            <a:r>
              <a:rPr kumimoji="1" lang="en-US" altLang="ko-KR" dirty="0" err="1"/>
              <a:t>jaewon.oh@snu.ac.kr</a:t>
            </a:r>
            <a:endParaRPr kumimoji="1" lang="en-US" altLang="ko-KR" dirty="0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B49159F5-1DE0-9E30-9FD9-0BAE082C7B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75763" y="5126373"/>
            <a:ext cx="3395560" cy="386097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/>
            </a:lvl1pPr>
          </a:lstStyle>
          <a:p>
            <a:r>
              <a:rPr kumimoji="1" lang="en-US" altLang="ko-KR" dirty="0"/>
              <a:t>2024.06.24(</a:t>
            </a:r>
            <a:r>
              <a:rPr kumimoji="1" lang="ko-KR" altLang="en-US" dirty="0"/>
              <a:t>월</a:t>
            </a:r>
            <a:r>
              <a:rPr kumimoji="1" lang="en-US" altLang="ko-KR" dirty="0"/>
              <a:t>)</a:t>
            </a: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63B70291-6A02-D4EF-9914-06A05E0302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4000" y="3767457"/>
            <a:ext cx="9144000" cy="4857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/>
            </a:lvl2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086279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F89EB-A0C8-8887-8748-3A375FD6F8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7873" y="1080922"/>
            <a:ext cx="11256196" cy="4183200"/>
          </a:xfrm>
        </p:spPr>
        <p:txBody>
          <a:bodyPr/>
          <a:lstStyle>
            <a:lvl1pPr marL="342900" indent="-342900">
              <a:lnSpc>
                <a:spcPct val="150000"/>
              </a:lnSpc>
              <a:buSzPct val="100000"/>
              <a:buFont typeface="+mj-lt"/>
              <a:buAutoNum type="arabicPeriod"/>
              <a:defRPr sz="2400"/>
            </a:lvl1pPr>
            <a:lvl2pPr marL="800089" indent="-342900">
              <a:buFont typeface="+mj-lt"/>
              <a:buAutoNum type="arabicPeriod"/>
              <a:defRPr/>
            </a:lvl2pPr>
            <a:lvl3pPr marL="1257277" indent="-342900">
              <a:buFont typeface="+mj-lt"/>
              <a:buAutoNum type="arabicPeriod"/>
              <a:defRPr/>
            </a:lvl3pPr>
            <a:lvl4pPr marL="1714466" indent="-342900">
              <a:buFont typeface="+mj-lt"/>
              <a:buAutoNum type="arabicPeriod"/>
              <a:defRPr/>
            </a:lvl4pPr>
            <a:lvl5pPr marL="2171655" indent="-342900">
              <a:buFont typeface="+mj-lt"/>
              <a:buAutoNum type="arabicPeriod"/>
              <a:defRPr/>
            </a:lvl5pPr>
          </a:lstStyle>
          <a:p>
            <a:pPr lvl="0"/>
            <a:r>
              <a:rPr kumimoji="1" lang="ko-KR" altLang="en-US" dirty="0"/>
              <a:t>주제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주제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주제</a:t>
            </a:r>
            <a:endParaRPr kumimoji="1" lang="en-US" altLang="ko-KR" dirty="0"/>
          </a:p>
          <a:p>
            <a:pPr lvl="0"/>
            <a:endParaRPr kumimoji="1" lang="ko-KR" alt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AC42584-C006-7858-2AAC-6D74460C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5371" y="6492874"/>
            <a:ext cx="11719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967A-1DD1-3C4F-A5CA-D10087DF264B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00426-7BCD-A785-1467-E5B5B11E52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pPr algn="l"/>
            <a:r>
              <a:rPr kumimoji="1" lang="en-US" altLang="ko-Kore-KR"/>
              <a:t>Columnar Storage Formats</a:t>
            </a:r>
            <a:endParaRPr kumimoji="1" lang="ko-Kore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D87553-EC67-78EF-A00A-3B7A64C92FB3}"/>
              </a:ext>
            </a:extLst>
          </p:cNvPr>
          <p:cNvSpPr/>
          <p:nvPr userDrawn="1"/>
        </p:nvSpPr>
        <p:spPr>
          <a:xfrm>
            <a:off x="-29" y="6420942"/>
            <a:ext cx="12192000" cy="432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7D5AE6-98CE-6FCC-51D7-8DC3EEAEBB16}"/>
              </a:ext>
            </a:extLst>
          </p:cNvPr>
          <p:cNvSpPr/>
          <p:nvPr userDrawn="1"/>
        </p:nvSpPr>
        <p:spPr>
          <a:xfrm>
            <a:off x="477654" y="0"/>
            <a:ext cx="108463" cy="576459"/>
          </a:xfrm>
          <a:prstGeom prst="rect">
            <a:avLst/>
          </a:prstGeom>
          <a:solidFill>
            <a:srgbClr val="E00000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6" name="Picture 2" descr="@FlashSQL">
            <a:extLst>
              <a:ext uri="{FF2B5EF4-FFF2-40B4-BE49-F238E27FC236}">
                <a16:creationId xmlns:a16="http://schemas.microsoft.com/office/drawing/2014/main" id="{B006EA05-C363-689A-7F05-719AAB83F2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418" y="69739"/>
            <a:ext cx="664150" cy="6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내용 개체 틀 14">
            <a:extLst>
              <a:ext uri="{FF2B5EF4-FFF2-40B4-BE49-F238E27FC236}">
                <a16:creationId xmlns:a16="http://schemas.microsoft.com/office/drawing/2014/main" id="{6B0E44CD-42AC-939B-B2B1-7D2D0EBC704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8040" y="256478"/>
            <a:ext cx="3020604" cy="320516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kumimoji="1" lang="en-US" altLang="ko-KR" dirty="0"/>
              <a:t>0.</a:t>
            </a:r>
            <a:r>
              <a:rPr kumimoji="1" lang="ko-KR" altLang="en-US" dirty="0"/>
              <a:t> </a:t>
            </a:r>
            <a:r>
              <a:rPr kumimoji="1" lang="en-US" altLang="ko-KR" dirty="0"/>
              <a:t>Contents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55099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C32D7C42-4194-9FDC-7606-CA700790B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430" y="735444"/>
            <a:ext cx="10557942" cy="431284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kumimoji="1" lang="ko-KR" altLang="en-US" dirty="0"/>
              <a:t>편집하려면 클릭</a:t>
            </a:r>
          </a:p>
        </p:txBody>
      </p:sp>
      <p:sp>
        <p:nvSpPr>
          <p:cNvPr id="15" name="내용 개체 틀 14">
            <a:extLst>
              <a:ext uri="{FF2B5EF4-FFF2-40B4-BE49-F238E27FC236}">
                <a16:creationId xmlns:a16="http://schemas.microsoft.com/office/drawing/2014/main" id="{E6507843-4EFD-CD4E-B079-4389ACD2375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8040" y="256478"/>
            <a:ext cx="3020604" cy="320516"/>
          </a:xfrm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rgbClr val="FF0000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title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F89EB-A0C8-8887-8748-3A375FD6F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AC42584-C006-7858-2AAC-6D74460C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5371" y="6492874"/>
            <a:ext cx="11719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967A-1DD1-3C4F-A5CA-D10087DF264B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00426-7BCD-A785-1467-E5B5B11E52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pPr algn="l"/>
            <a:r>
              <a:rPr kumimoji="1" lang="en-US" altLang="ko-Kore-KR"/>
              <a:t>Columnar Storage Formats</a:t>
            </a:r>
            <a:endParaRPr kumimoji="1" lang="ko-Kore-KR" altLang="en-US" dirty="0"/>
          </a:p>
        </p:txBody>
      </p:sp>
      <p:pic>
        <p:nvPicPr>
          <p:cNvPr id="5" name="Picture 2" descr="@FlashSQL">
            <a:extLst>
              <a:ext uri="{FF2B5EF4-FFF2-40B4-BE49-F238E27FC236}">
                <a16:creationId xmlns:a16="http://schemas.microsoft.com/office/drawing/2014/main" id="{4BB1E1B5-85D4-ABE7-EB69-46E4C8D7A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418" y="69739"/>
            <a:ext cx="664150" cy="6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D87553-EC67-78EF-A00A-3B7A64C92FB3}"/>
              </a:ext>
            </a:extLst>
          </p:cNvPr>
          <p:cNvSpPr/>
          <p:nvPr userDrawn="1"/>
        </p:nvSpPr>
        <p:spPr>
          <a:xfrm>
            <a:off x="-29" y="6420942"/>
            <a:ext cx="12192000" cy="432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7D5AE6-98CE-6FCC-51D7-8DC3EEAEBB16}"/>
              </a:ext>
            </a:extLst>
          </p:cNvPr>
          <p:cNvSpPr/>
          <p:nvPr userDrawn="1"/>
        </p:nvSpPr>
        <p:spPr>
          <a:xfrm>
            <a:off x="477654" y="0"/>
            <a:ext cx="108463" cy="576459"/>
          </a:xfrm>
          <a:prstGeom prst="rect">
            <a:avLst/>
          </a:prstGeom>
          <a:solidFill>
            <a:srgbClr val="E00000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605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AC42584-C006-7858-2AAC-6D74460C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5371" y="6492874"/>
            <a:ext cx="11719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967A-1DD1-3C4F-A5CA-D10087DF264B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00426-7BCD-A785-1467-E5B5B11E52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pPr algn="l"/>
            <a:r>
              <a:rPr kumimoji="1" lang="en-US" altLang="ko-Kore-KR"/>
              <a:t>Columnar Storage Formats</a:t>
            </a:r>
            <a:endParaRPr kumimoji="1" lang="ko-Kore-KR" altLang="en-US" dirty="0"/>
          </a:p>
        </p:txBody>
      </p:sp>
      <p:pic>
        <p:nvPicPr>
          <p:cNvPr id="5" name="Picture 2" descr="@FlashSQL">
            <a:extLst>
              <a:ext uri="{FF2B5EF4-FFF2-40B4-BE49-F238E27FC236}">
                <a16:creationId xmlns:a16="http://schemas.microsoft.com/office/drawing/2014/main" id="{4BB1E1B5-85D4-ABE7-EB69-46E4C8D7A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418" y="69739"/>
            <a:ext cx="664150" cy="6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D87553-EC67-78EF-A00A-3B7A64C92FB3}"/>
              </a:ext>
            </a:extLst>
          </p:cNvPr>
          <p:cNvSpPr/>
          <p:nvPr userDrawn="1"/>
        </p:nvSpPr>
        <p:spPr>
          <a:xfrm>
            <a:off x="-29" y="6420942"/>
            <a:ext cx="12192000" cy="432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7D5AE6-98CE-6FCC-51D7-8DC3EEAEBB16}"/>
              </a:ext>
            </a:extLst>
          </p:cNvPr>
          <p:cNvSpPr/>
          <p:nvPr userDrawn="1"/>
        </p:nvSpPr>
        <p:spPr>
          <a:xfrm>
            <a:off x="477654" y="0"/>
            <a:ext cx="108463" cy="576459"/>
          </a:xfrm>
          <a:prstGeom prst="rect">
            <a:avLst/>
          </a:prstGeom>
          <a:solidFill>
            <a:srgbClr val="E00000">
              <a:alpha val="8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75EE2C-4C10-50B4-049F-805B4E2A3790}"/>
              </a:ext>
            </a:extLst>
          </p:cNvPr>
          <p:cNvSpPr txBox="1"/>
          <p:nvPr userDrawn="1"/>
        </p:nvSpPr>
        <p:spPr>
          <a:xfrm>
            <a:off x="467873" y="2704665"/>
            <a:ext cx="1125619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/>
            <a:r>
              <a:rPr kumimoji="1" lang="en-US" altLang="ko-KR" sz="4000" dirty="0">
                <a:latin typeface="NanumGothic" panose="020D0604000000000000" pitchFamily="34" charset="-127"/>
                <a:ea typeface="NanumGothic" panose="020D0604000000000000" pitchFamily="34" charset="-127"/>
              </a:rPr>
              <a:t>E.O.D</a:t>
            </a:r>
            <a:endParaRPr kumimoji="1" lang="ko-Kore-KR" altLang="en-US" sz="4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219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618DDE50-7A23-D7E8-BF7F-32E99708191B}"/>
              </a:ext>
            </a:extLst>
          </p:cNvPr>
          <p:cNvSpPr/>
          <p:nvPr userDrawn="1"/>
        </p:nvSpPr>
        <p:spPr>
          <a:xfrm>
            <a:off x="-29" y="6420942"/>
            <a:ext cx="12192000" cy="4320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25A5FC-1BA0-A077-572E-BAB67C83E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02" y="1337400"/>
            <a:ext cx="11256196" cy="418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 dirty="0"/>
          </a:p>
        </p:txBody>
      </p:sp>
      <p:sp>
        <p:nvSpPr>
          <p:cNvPr id="28" name="바닥글 개체 틀 27">
            <a:extLst>
              <a:ext uri="{FF2B5EF4-FFF2-40B4-BE49-F238E27FC236}">
                <a16:creationId xmlns:a16="http://schemas.microsoft.com/office/drawing/2014/main" id="{B3283C3D-ED6F-D895-D12E-F406016CF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55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kumimoji="1" lang="en-US" altLang="ko-Kore-KR"/>
              <a:t>Columnar Storage Formats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2952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7" r:id="rId3"/>
    <p:sldLayoutId id="2147483658" r:id="rId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rgbClr val="E94C3C"/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n-cs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E94C3C"/>
        </a:buClr>
        <a:buSzPct val="80000"/>
        <a:buFont typeface="시스템 서체 일반체"/>
        <a:buChar char="−"/>
        <a:defRPr sz="1600" kern="120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n-cs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E94C3C"/>
        </a:buClr>
        <a:buSzPct val="70000"/>
        <a:buFont typeface="Wingdings" pitchFamily="2" charset="2"/>
        <a:buChar char="ü"/>
        <a:defRPr sz="1600" kern="120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E94C3C"/>
        </a:buClr>
        <a:buSzPct val="80000"/>
        <a:buFont typeface="시스템 서체 일반체"/>
        <a:buChar char="−"/>
        <a:defRPr sz="1600" kern="120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n-cs"/>
        </a:defRPr>
      </a:lvl4pPr>
      <a:lvl5pPr marL="2057349" indent="-228594" algn="l" defTabSz="914377" rtl="0" eaLnBrk="1" latinLnBrk="0" hangingPunct="1">
        <a:lnSpc>
          <a:spcPct val="100000"/>
        </a:lnSpc>
        <a:spcBef>
          <a:spcPts val="500"/>
        </a:spcBef>
        <a:buClr>
          <a:srgbClr val="E94C3C"/>
        </a:buClr>
        <a:buSzPct val="80000"/>
        <a:buFont typeface="시스템 서체 일반체"/>
        <a:buChar char="−"/>
        <a:defRPr sz="1600" kern="1200">
          <a:solidFill>
            <a:schemeClr val="tx1"/>
          </a:solidFill>
          <a:latin typeface="NanumGothic" panose="020D0604000000000000" pitchFamily="34" charset="-127"/>
          <a:ea typeface="NanumGothic" panose="020D0604000000000000" pitchFamily="34" charset="-127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ttl-seo.tistory.com/18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3797A-BF53-B50F-9E78-F8C926527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093" y="2560781"/>
            <a:ext cx="10887814" cy="935968"/>
          </a:xfrm>
        </p:spPr>
        <p:txBody>
          <a:bodyPr/>
          <a:lstStyle/>
          <a:p>
            <a:r>
              <a:rPr lang="en-US" altLang="ko-Kore-KR" sz="5000" dirty="0">
                <a:solidFill>
                  <a:srgbClr val="000000"/>
                </a:solidFill>
                <a:highlight>
                  <a:srgbClr val="FFFFFF"/>
                </a:highlight>
                <a:latin typeface="HG꼬딕씨 80g" panose="02020603020101020101" pitchFamily="18" charset="-127"/>
                <a:ea typeface="HG꼬딕씨 80g" panose="02020603020101020101" pitchFamily="18" charset="-127"/>
              </a:rPr>
              <a:t>AWS LAMBDA</a:t>
            </a:r>
            <a:endParaRPr lang="en" altLang="ko-Kore-KR" sz="500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351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4343066" cy="320516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Lambda Layers </a:t>
            </a:r>
            <a:r>
              <a:rPr kumimoji="1" lang="ko-KR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세팅 방법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4589960-F4EC-C6CB-B851-BAEF986F8E74}"/>
              </a:ext>
            </a:extLst>
          </p:cNvPr>
          <p:cNvSpPr txBox="1">
            <a:spLocks/>
          </p:cNvSpPr>
          <p:nvPr/>
        </p:nvSpPr>
        <p:spPr>
          <a:xfrm>
            <a:off x="476766" y="1040860"/>
            <a:ext cx="11084603" cy="44073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E94C3C"/>
              </a:buClr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70000"/>
              <a:buFont typeface="Wingdings" pitchFamily="2" charset="2"/>
              <a:buChar char="ü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ore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Lambda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에서 파이썬 라이브러리를 사용하기 위해서는 계층을 미리 </a:t>
            </a:r>
            <a:r>
              <a:rPr kumimoji="1" lang="ko-KR" altLang="en-US" dirty="0" err="1">
                <a:latin typeface="HG꼬딕씨 80g" panose="02020603020101020101" pitchFamily="18" charset="-127"/>
                <a:ea typeface="HG꼬딕씨 80g" panose="02020603020101020101" pitchFamily="18" charset="-127"/>
              </a:rPr>
              <a:t>추가해두어야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함</a:t>
            </a:r>
            <a:endParaRPr kumimoji="1" lang="en-US" altLang="ko-Kore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로컬에 </a:t>
            </a:r>
            <a:r>
              <a:rPr kumimoji="1" lang="en-US" altLang="ko-Kore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Python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이라는 폴더를 생성하고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, 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터미널을 이용해 필요한 라이브러리를 설치함</a:t>
            </a:r>
            <a:endParaRPr kumimoji="1" lang="en-US" altLang="ko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pPr lvl="1"/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윈도우의 경우 로컬에 하면 안됨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kumimoji="1" lang="ko-KR" altLang="en-US" dirty="0">
                <a:solidFill>
                  <a:srgbClr val="FF0000"/>
                </a:solidFill>
                <a:latin typeface="HG꼬딕씨 80g" panose="02020603020101020101" pitchFamily="18" charset="-127"/>
                <a:ea typeface="HG꼬딕씨 80g" panose="02020603020101020101" pitchFamily="18" charset="-127"/>
                <a:sym typeface="Wingdings" panose="05000000000000000000" pitchFamily="2" charset="2"/>
              </a:rPr>
              <a:t>리눅스 서버에서 수행할 것</a:t>
            </a:r>
            <a:endParaRPr kumimoji="1" lang="en-US" altLang="ko-KR" dirty="0">
              <a:solidFill>
                <a:srgbClr val="FF0000"/>
              </a:solidFill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pPr lvl="1"/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Pip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install {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패키지명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} –t .</a:t>
            </a:r>
          </a:p>
          <a:p>
            <a:pPr lvl="1"/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설치 후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zip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으로 압축한 다음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, 10MB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이상이라면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s3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에 업로드</a:t>
            </a:r>
            <a:endParaRPr kumimoji="1" lang="en-US" altLang="ko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AWS Lambda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에서 계층생성</a:t>
            </a:r>
            <a:endParaRPr kumimoji="1" lang="en-US" altLang="ko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pPr lvl="1"/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S3 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링크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URL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은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S3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에 들어가서 해당 오브젝트의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URL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카피</a:t>
            </a:r>
            <a:endParaRPr kumimoji="1" lang="en-US" altLang="ko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함수에서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layer 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연결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(Add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a</a:t>
            </a:r>
            <a:r>
              <a:rPr kumimoji="1" lang="ko-KR" altLang="en-US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</a:t>
            </a:r>
            <a:r>
              <a:rPr kumimoji="1" lang="en-US" altLang="ko-KR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layer-)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1</a:t>
            </a:fld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9F9DF-2B35-F99B-5D7F-1DF42A903E61}"/>
              </a:ext>
            </a:extLst>
          </p:cNvPr>
          <p:cNvSpPr txBox="1"/>
          <p:nvPr/>
        </p:nvSpPr>
        <p:spPr>
          <a:xfrm>
            <a:off x="3456879" y="256478"/>
            <a:ext cx="7991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AWS Lambda Layers </a:t>
            </a:r>
            <a:r>
              <a:rPr lang="ko-KR" altLang="en-US" dirty="0">
                <a:hlinkClick r:id="rId3"/>
              </a:rPr>
              <a:t>기능으로 </a:t>
            </a:r>
            <a:r>
              <a:rPr lang="en-US" altLang="ko-KR" dirty="0">
                <a:hlinkClick r:id="rId3"/>
              </a:rPr>
              <a:t>python </a:t>
            </a:r>
            <a:r>
              <a:rPr lang="ko-KR" altLang="en-US" dirty="0">
                <a:hlinkClick r:id="rId3"/>
              </a:rPr>
              <a:t>라이브러리 </a:t>
            </a:r>
            <a:r>
              <a:rPr lang="en-US" altLang="ko-KR" dirty="0">
                <a:hlinkClick r:id="rId3"/>
              </a:rPr>
              <a:t>import </a:t>
            </a:r>
            <a:r>
              <a:rPr lang="ko-KR" altLang="en-US" dirty="0">
                <a:hlinkClick r:id="rId3"/>
              </a:rPr>
              <a:t>하기 </a:t>
            </a:r>
            <a:r>
              <a:rPr lang="en-US" altLang="ko-KR" dirty="0">
                <a:hlinkClick r:id="rId3"/>
              </a:rPr>
              <a:t>(tistory.com)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B99A2-03C3-5AF0-67D1-A06B17FC6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2024" y="1524455"/>
            <a:ext cx="3352583" cy="38090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5D86A63-7F0C-2466-2F83-8CE3CF455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023" y="5448164"/>
            <a:ext cx="3352583" cy="79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1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4343066" cy="320516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24589960-F4EC-C6CB-B851-BAEF986F8E74}"/>
              </a:ext>
            </a:extLst>
          </p:cNvPr>
          <p:cNvSpPr txBox="1">
            <a:spLocks/>
          </p:cNvSpPr>
          <p:nvPr/>
        </p:nvSpPr>
        <p:spPr>
          <a:xfrm>
            <a:off x="476766" y="1040860"/>
            <a:ext cx="11084603" cy="4831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E94C3C"/>
              </a:buClr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70000"/>
              <a:buFont typeface="Wingdings" pitchFamily="2" charset="2"/>
              <a:buChar char="ü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E94C3C"/>
              </a:buClr>
              <a:buSzPct val="80000"/>
              <a:buFont typeface="시스템 서체 일반체"/>
              <a:buChar char="−"/>
              <a:defRPr sz="1600" kern="120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Format: Table Format (e.g. Iceberg) + File Format (e.g. Parquet)</a:t>
            </a:r>
          </a:p>
          <a:p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Dataset (= table)</a:t>
            </a:r>
          </a:p>
          <a:p>
            <a:pPr lvl="1"/>
            <a:r>
              <a:rPr kumimoji="1" lang="en-US" altLang="ko-Kore-KR" sz="2000" dirty="0" err="1">
                <a:latin typeface="HG꼬딕씨 80g" panose="02020603020101020101" pitchFamily="18" charset="-127"/>
                <a:ea typeface="HG꼬딕씨 80g" panose="02020603020101020101" pitchFamily="18" charset="-127"/>
              </a:rPr>
              <a:t>Datafragment</a:t>
            </a:r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(= chunk of data in the dataset + </a:t>
            </a:r>
            <a:r>
              <a:rPr kumimoji="1" lang="en-US" altLang="ko-Kore-KR" sz="2000" dirty="0">
                <a:solidFill>
                  <a:srgbClr val="FF0000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manifest list file</a:t>
            </a:r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)</a:t>
            </a:r>
          </a:p>
          <a:p>
            <a:pPr lvl="2"/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Datafile (= contain several columns, deletion file + </a:t>
            </a:r>
            <a:r>
              <a:rPr kumimoji="1" lang="en-US" altLang="ko-Kore-KR" sz="2000" dirty="0">
                <a:solidFill>
                  <a:srgbClr val="FF0000"/>
                </a:solidFill>
                <a:latin typeface="HG꼬딕씨 80g" panose="02020603020101020101" pitchFamily="18" charset="-127"/>
                <a:ea typeface="HG꼬딕씨 80g" panose="02020603020101020101" pitchFamily="18" charset="-127"/>
              </a:rPr>
              <a:t>manifest file</a:t>
            </a:r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)</a:t>
            </a:r>
          </a:p>
          <a:p>
            <a:pPr lvl="3"/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Columns</a:t>
            </a:r>
          </a:p>
          <a:p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No row groups</a:t>
            </a:r>
          </a:p>
          <a:p>
            <a:pPr lvl="1"/>
            <a:r>
              <a:rPr kumimoji="1" lang="en-US" altLang="ko-Kore-KR" sz="18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Parquet: PAX(Row </a:t>
            </a:r>
            <a:r>
              <a:rPr kumimoji="1" lang="en-US" altLang="ko-Kore-KR" sz="1800" dirty="0" err="1">
                <a:latin typeface="HG꼬딕씨 80g" panose="02020603020101020101" pitchFamily="18" charset="-127"/>
                <a:ea typeface="HG꼬딕씨 80g" panose="02020603020101020101" pitchFamily="18" charset="-127"/>
              </a:rPr>
              <a:t>group+Column</a:t>
            </a:r>
            <a:r>
              <a:rPr kumimoji="1" lang="en-US" altLang="ko-Kore-KR" sz="18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chunk)</a:t>
            </a:r>
          </a:p>
          <a:p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Plain encoding (default), optional encoding</a:t>
            </a:r>
          </a:p>
          <a:p>
            <a:pPr lvl="1"/>
            <a:r>
              <a:rPr kumimoji="1" lang="en-US" altLang="ko-Kore-KR" sz="18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Parquet: </a:t>
            </a:r>
            <a:r>
              <a:rPr kumimoji="1" lang="en-US" altLang="ko-Kore-KR" sz="1800" dirty="0" err="1">
                <a:latin typeface="HG꼬딕씨 80g" panose="02020603020101020101" pitchFamily="18" charset="-127"/>
                <a:ea typeface="HG꼬딕씨 80g" panose="02020603020101020101" pitchFamily="18" charset="-127"/>
              </a:rPr>
              <a:t>Dictionary+bitpacking</a:t>
            </a:r>
            <a:r>
              <a:rPr kumimoji="1" lang="en-US" altLang="ko-Kore-KR" sz="18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 (default)</a:t>
            </a:r>
          </a:p>
          <a:p>
            <a:r>
              <a:rPr kumimoji="1" lang="en-US" altLang="ko-Kore-KR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Metadata includes offset</a:t>
            </a:r>
          </a:p>
          <a:p>
            <a:pPr lvl="1"/>
            <a:r>
              <a:rPr kumimoji="1" lang="en-US" altLang="ko-Kore-KR" sz="18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Parquet: range based, zone map</a:t>
            </a:r>
            <a:endParaRPr kumimoji="1" lang="en-US" altLang="ko-Kore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endParaRPr kumimoji="1" lang="en-US" altLang="ko-Kore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  <a:p>
            <a:endParaRPr kumimoji="1" lang="en-US" altLang="ko-Kore-KR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2</a:t>
            </a:fld>
            <a:endParaRPr kumimoji="1" lang="ko-Kore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BA38960-E986-EC0A-CB07-8DC4EAD9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067" y="3130026"/>
            <a:ext cx="5471417" cy="248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2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4362522" cy="320516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Format Layout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3</a:t>
            </a:fld>
            <a:endParaRPr kumimoji="1" lang="ko-Kore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2E81B0-93AC-7394-6750-9E3F63BAB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97" y="1269000"/>
            <a:ext cx="1082440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9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4980120" cy="365124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 vs. Parquet: Point Lookups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4</a:t>
            </a:fld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E30AA3-261E-E88F-5556-0553E6CF7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90" y="1269000"/>
            <a:ext cx="988901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4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4980120" cy="365124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 vs. Parquet: Wide Columns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5</a:t>
            </a:fld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27166-B45C-D7C6-FEA3-3FE68C26F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874" y="1269000"/>
            <a:ext cx="6464572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8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5671000" cy="365124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 vs. Parquet: Very Wide Schemas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6</a:t>
            </a:fld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C1C3CD6-A600-45E9-0B29-13C3CD8B8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82" y="1133154"/>
            <a:ext cx="9564435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5DAB4A-4157-192F-32E8-8C2E5FAE7B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8040" y="256478"/>
            <a:ext cx="5671000" cy="365124"/>
          </a:xfrm>
        </p:spPr>
        <p:txBody>
          <a:bodyPr/>
          <a:lstStyle/>
          <a:p>
            <a:r>
              <a:rPr kumimoji="1" lang="en-US" altLang="en-US" sz="2000" dirty="0">
                <a:latin typeface="HG꼬딕씨 80g" panose="02020603020101020101" pitchFamily="18" charset="-127"/>
                <a:ea typeface="HG꼬딕씨 80g" panose="02020603020101020101" pitchFamily="18" charset="-127"/>
              </a:rPr>
              <a:t>Lance File Format vs. Parquet: Flexible Metadata</a:t>
            </a:r>
            <a:endParaRPr kumimoji="1" lang="ko-Kore-KR" altLang="en-US" sz="2000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28F96E-EBAD-0B8A-76B4-8C90C6BBB12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l"/>
            <a:r>
              <a:rPr kumimoji="1" lang="en-US" altLang="ko-Kore-KR">
                <a:latin typeface="HG꼬딕씨 80g" panose="02020603020101020101" pitchFamily="18" charset="-127"/>
                <a:ea typeface="HG꼬딕씨 80g" panose="02020603020101020101" pitchFamily="18" charset="-127"/>
              </a:rPr>
              <a:t>Columnar Storage Formats</a:t>
            </a:r>
            <a:endParaRPr kumimoji="1" lang="ko-Kore-KR" altLang="en-US" dirty="0"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F8C169B-4277-DAD6-CD06-CB093CBE0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4967A-1DD1-3C4F-A5CA-D10087DF264B}" type="slidenum">
              <a:rPr kumimoji="1" lang="ko-Kore-KR" altLang="en-US" smtClean="0"/>
              <a:pPr/>
              <a:t>7</a:t>
            </a:fld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1C1EB2-A55B-C219-671E-728AB04B5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546" y="799733"/>
            <a:ext cx="9554908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3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3797A-BF53-B50F-9E78-F8C926527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093" y="2436704"/>
            <a:ext cx="10887814" cy="935968"/>
          </a:xfrm>
        </p:spPr>
        <p:txBody>
          <a:bodyPr/>
          <a:lstStyle/>
          <a:p>
            <a:r>
              <a:rPr lang="en" altLang="ko-Kore-KR" sz="440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G꼬딕씨 80g" panose="02020603020101020101" pitchFamily="18" charset="-127"/>
                <a:ea typeface="HG꼬딕씨 80g" panose="02020603020101020101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83656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16855</TotalTime>
  <Words>348</Words>
  <Application>Microsoft Office PowerPoint</Application>
  <PresentationFormat>와이드스크린</PresentationFormat>
  <Paragraphs>60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HG꼬딕씨 80g</vt:lpstr>
      <vt:lpstr>NanumGothic</vt:lpstr>
      <vt:lpstr>시스템 서체 일반체</vt:lpstr>
      <vt:lpstr>Arial</vt:lpstr>
      <vt:lpstr>Calibri</vt:lpstr>
      <vt:lpstr>Wingdings</vt:lpstr>
      <vt:lpstr>Office 테마</vt:lpstr>
      <vt:lpstr>AWS LAMBDA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jaewon.oh0@gmail.com</dc:creator>
  <cp:lastModifiedBy>1534</cp:lastModifiedBy>
  <cp:revision>252</cp:revision>
  <dcterms:created xsi:type="dcterms:W3CDTF">2024-06-24T03:14:31Z</dcterms:created>
  <dcterms:modified xsi:type="dcterms:W3CDTF">2024-10-17T10:02:46Z</dcterms:modified>
</cp:coreProperties>
</file>